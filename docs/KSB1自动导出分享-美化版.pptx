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B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49039" y="0"/>
            <a:ext cx="8442655" cy="1828800"/>
          </a:xfrm>
          <a:prstGeom prst="rect">
            <a:avLst/>
          </a:prstGeom>
          <a:solidFill>
            <a:srgbClr val="E8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1960" y="1965960"/>
            <a:ext cx="694944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211D1A"/>
                </a:solidFill>
                <a:latin typeface="Avenir Next"/>
              </a:rPr>
              <a:t>KSB1
自动导出分享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3794760"/>
            <a:ext cx="6217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685F56"/>
                </a:solidFill>
                <a:latin typeface="Avenir Next"/>
              </a:rPr>
              <a:t>把重复的 SAP 导出动作自动化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4572000"/>
            <a:ext cx="5943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66E4E"/>
                </a:solidFill>
                <a:latin typeface="Avenir Next"/>
              </a:rPr>
              <a:t>适用：内部同事分享 / 工具推广 / 上手培训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BF8F2"/>
                </a:solidFill>
                <a:latin typeface="Avenir Next"/>
              </a:rPr>
              <a:t>董文婷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2377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FBF8F2"/>
                </a:solidFill>
                <a:latin typeface="Avenir Next"/>
              </a:rPr>
              <a:t>2026-04-20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11D1A"/>
                </a:solidFill>
                <a:latin typeface="Avenir Next"/>
              </a:rPr>
              <a:t>为什么要做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645920" cy="73152"/>
          </a:xfrm>
          <a:prstGeom prst="rect">
            <a:avLst/>
          </a:prstGeom>
          <a:solidFill>
            <a:srgbClr val="9B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480560"/>
          </a:xfrm>
          <a:prstGeom prst="roundRect">
            <a:avLst/>
          </a:prstGeom>
          <a:solidFill>
            <a:srgbClr val="FBF8F2"/>
          </a:solidFill>
          <a:ln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4572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211D1A"/>
                </a:solidFill>
                <a:latin typeface="Avenir Next"/>
              </a:rPr>
              <a:t>每个月都要重复做同一套 SAP 导出动作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448056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D1A"/>
                </a:solidFill>
                <a:latin typeface="Avenir Next"/>
              </a:defRPr>
            </a:pPr>
            <a:r>
              <a:t>进入 SAP</a:t>
            </a:r>
          </a:p>
          <a:p>
            <a:pPr>
              <a:spcAft>
                <a:spcPts val="1200"/>
              </a:spcAft>
              <a:defRPr sz="2000">
                <a:solidFill>
                  <a:srgbClr val="211D1A"/>
                </a:solidFill>
                <a:latin typeface="Avenir Next"/>
              </a:defRPr>
            </a:pPr>
            <a:r>
              <a:t>打开 KSB1</a:t>
            </a:r>
          </a:p>
          <a:p>
            <a:pPr>
              <a:spcAft>
                <a:spcPts val="1200"/>
              </a:spcAft>
              <a:defRPr sz="2000">
                <a:solidFill>
                  <a:srgbClr val="211D1A"/>
                </a:solidFill>
                <a:latin typeface="Avenir Next"/>
              </a:defRPr>
            </a:pPr>
            <a:r>
              <a:t>选择条件</a:t>
            </a:r>
          </a:p>
          <a:p>
            <a:pPr>
              <a:spcAft>
                <a:spcPts val="1200"/>
              </a:spcAft>
              <a:defRPr sz="2000">
                <a:solidFill>
                  <a:srgbClr val="211D1A"/>
                </a:solidFill>
                <a:latin typeface="Avenir Next"/>
              </a:defRPr>
            </a:pPr>
            <a:r>
              <a:t>导出文件</a:t>
            </a:r>
          </a:p>
          <a:p>
            <a:pPr>
              <a:spcAft>
                <a:spcPts val="1200"/>
              </a:spcAft>
              <a:defRPr sz="2000">
                <a:solidFill>
                  <a:srgbClr val="211D1A"/>
                </a:solidFill>
                <a:latin typeface="Avenir Next"/>
              </a:defRPr>
            </a:pPr>
            <a:r>
              <a:t>检查是否点错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08760"/>
            <a:ext cx="4572000" cy="1920240"/>
          </a:xfrm>
          <a:prstGeom prst="roundRect">
            <a:avLst/>
          </a:prstGeom>
          <a:solidFill>
            <a:srgbClr val="9B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920240"/>
            <a:ext cx="39319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BF8F2"/>
                </a:solidFill>
                <a:latin typeface="Avenir Next"/>
              </a:rPr>
              <a:t>时间被重复点击消耗
风险来自人工操作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703320"/>
            <a:ext cx="4572000" cy="2286000"/>
          </a:xfrm>
          <a:prstGeom prst="roundRect">
            <a:avLst/>
          </a:prstGeom>
          <a:solidFill>
            <a:srgbClr val="E8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4069080"/>
            <a:ext cx="384048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D1A"/>
                </a:solidFill>
                <a:latin typeface="Avenir Next"/>
              </a:defRPr>
            </a:pPr>
            <a:r>
              <a:t>漏点</a:t>
            </a:r>
          </a:p>
          <a:p>
            <a:pPr>
              <a:spcAft>
                <a:spcPts val="1200"/>
              </a:spcAft>
              <a:defRPr sz="2000">
                <a:solidFill>
                  <a:srgbClr val="211D1A"/>
                </a:solidFill>
                <a:latin typeface="Avenir Next"/>
              </a:defRPr>
            </a:pPr>
            <a:r>
              <a:t>点错</a:t>
            </a:r>
          </a:p>
          <a:p>
            <a:pPr>
              <a:spcAft>
                <a:spcPts val="1200"/>
              </a:spcAft>
              <a:defRPr sz="2000">
                <a:solidFill>
                  <a:srgbClr val="211D1A"/>
                </a:solidFill>
                <a:latin typeface="Avenir Next"/>
              </a:defRPr>
            </a:pPr>
            <a:r>
              <a:t>月份选错</a:t>
            </a:r>
          </a:p>
          <a:p>
            <a:pPr>
              <a:spcAft>
                <a:spcPts val="1200"/>
              </a:spcAft>
              <a:defRPr sz="2000">
                <a:solidFill>
                  <a:srgbClr val="211D1A"/>
                </a:solidFill>
                <a:latin typeface="Avenir Next"/>
              </a:defRPr>
            </a:pPr>
            <a:r>
              <a:t>结果文件放错位置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0080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685F56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11D1A"/>
                </a:solidFill>
                <a:latin typeface="Avenir Next"/>
              </a:rPr>
              <a:t>这个工具解决什么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3246120" cy="3566160"/>
          </a:xfrm>
          <a:prstGeom prst="roundRect">
            <a:avLst/>
          </a:prstGeom>
          <a:solidFill>
            <a:srgbClr val="FBF8F2"/>
          </a:solidFill>
          <a:ln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3246120" cy="164592"/>
          </a:xfrm>
          <a:prstGeom prst="rect">
            <a:avLst/>
          </a:prstGeom>
          <a:solidFill>
            <a:srgbClr val="9B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27432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211D1A"/>
                </a:solidFill>
                <a:latin typeface="Avenir Next"/>
              </a:rPr>
              <a:t>减少重复动作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43200"/>
            <a:ext cx="274320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685F56"/>
                </a:solidFill>
                <a:latin typeface="Avenir Next"/>
              </a:rPr>
              <a:t>把固定步骤自动执行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246120" cy="3566160"/>
          </a:xfrm>
          <a:prstGeom prst="roundRect">
            <a:avLst/>
          </a:prstGeom>
          <a:solidFill>
            <a:srgbClr val="FBF8F2"/>
          </a:solidFill>
          <a:ln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645920"/>
            <a:ext cx="3246120" cy="164592"/>
          </a:xfrm>
          <a:prstGeom prst="rect">
            <a:avLst/>
          </a:prstGeom>
          <a:solidFill>
            <a:srgbClr val="BC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057400"/>
            <a:ext cx="27432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211D1A"/>
                </a:solidFill>
                <a:latin typeface="Avenir Next"/>
              </a:rPr>
              <a:t>降低人为错误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743200"/>
            <a:ext cx="274320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685F56"/>
                </a:solidFill>
                <a:latin typeface="Avenir Next"/>
              </a:rPr>
              <a:t>减少漏点和误操作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45920"/>
            <a:ext cx="3246120" cy="3566160"/>
          </a:xfrm>
          <a:prstGeom prst="roundRect">
            <a:avLst/>
          </a:prstGeom>
          <a:solidFill>
            <a:srgbClr val="FBF8F2"/>
          </a:solidFill>
          <a:ln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1645920"/>
            <a:ext cx="3246120" cy="164592"/>
          </a:xfrm>
          <a:prstGeom prst="rect">
            <a:avLst/>
          </a:prstGeom>
          <a:solidFill>
            <a:srgbClr val="56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057400"/>
            <a:ext cx="27432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211D1A"/>
                </a:solidFill>
                <a:latin typeface="Avenir Next"/>
              </a:rPr>
              <a:t>把时间还给分析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743200"/>
            <a:ext cx="274320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685F56"/>
                </a:solidFill>
                <a:latin typeface="Avenir Next"/>
              </a:rPr>
              <a:t>更多精力放在核对结果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15000"/>
            <a:ext cx="9692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9B3927"/>
                </a:solidFill>
                <a:latin typeface="Avenir Next"/>
              </a:rPr>
              <a:t>一句话：它不是替你判断数据，而是替你完成重复的 SAP 导出动作。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0080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685F56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11D1A"/>
                </a:solidFill>
                <a:latin typeface="Avenir Next"/>
              </a:rPr>
              <a:t>使用流程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9B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4984" y="1755648"/>
            <a:ext cx="274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FBF8F2"/>
                </a:solidFill>
                <a:latin typeface="Avenir Next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600200"/>
            <a:ext cx="2423160" cy="822960"/>
          </a:xfrm>
          <a:prstGeom prst="roundRect">
            <a:avLst/>
          </a:prstGeom>
          <a:solidFill>
            <a:srgbClr val="FBF8F2"/>
          </a:solidFill>
          <a:ln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1801368"/>
            <a:ext cx="19202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11D1A"/>
                </a:solidFill>
                <a:latin typeface="Avenir Next"/>
              </a:rPr>
              <a:t>打开应用</a:t>
            </a:r>
          </a:p>
        </p:txBody>
      </p:sp>
      <p:sp>
        <p:nvSpPr>
          <p:cNvPr id="7" name="Oval 6"/>
          <p:cNvSpPr/>
          <p:nvPr/>
        </p:nvSpPr>
        <p:spPr>
          <a:xfrm>
            <a:off x="4480560" y="1645920"/>
            <a:ext cx="640080" cy="640080"/>
          </a:xfrm>
          <a:prstGeom prst="ellipse">
            <a:avLst/>
          </a:prstGeom>
          <a:solidFill>
            <a:srgbClr val="9B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2584" y="1755648"/>
            <a:ext cx="274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FBF8F2"/>
                </a:solidFill>
                <a:latin typeface="Avenir Next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00200"/>
            <a:ext cx="2423160" cy="822960"/>
          </a:xfrm>
          <a:prstGeom prst="roundRect">
            <a:avLst/>
          </a:prstGeom>
          <a:solidFill>
            <a:srgbClr val="FBF8F2"/>
          </a:solidFill>
          <a:ln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801368"/>
            <a:ext cx="19202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11D1A"/>
                </a:solidFill>
                <a:latin typeface="Avenir Next"/>
              </a:rPr>
              <a:t>输入账号密码</a:t>
            </a:r>
          </a:p>
        </p:txBody>
      </p:sp>
      <p:sp>
        <p:nvSpPr>
          <p:cNvPr id="11" name="Oval 10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9B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4" y="1755648"/>
            <a:ext cx="274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FBF8F2"/>
                </a:solidFill>
                <a:latin typeface="Avenir Next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00200"/>
            <a:ext cx="2423160" cy="822960"/>
          </a:xfrm>
          <a:prstGeom prst="roundRect">
            <a:avLst/>
          </a:prstGeom>
          <a:solidFill>
            <a:srgbClr val="FBF8F2"/>
          </a:solidFill>
          <a:ln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801368"/>
            <a:ext cx="19202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11D1A"/>
                </a:solidFill>
                <a:latin typeface="Avenir Next"/>
              </a:rPr>
              <a:t>选择年月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749039"/>
            <a:ext cx="640080" cy="640080"/>
          </a:xfrm>
          <a:prstGeom prst="ellipse">
            <a:avLst/>
          </a:prstGeom>
          <a:solidFill>
            <a:srgbClr val="BC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" y="3858768"/>
            <a:ext cx="274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FBF8F2"/>
                </a:solidFill>
                <a:latin typeface="Avenir Next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3703320"/>
            <a:ext cx="2423160" cy="822960"/>
          </a:xfrm>
          <a:prstGeom prst="roundRect">
            <a:avLst/>
          </a:prstGeom>
          <a:solidFill>
            <a:srgbClr val="FBF8F2"/>
          </a:solidFill>
          <a:ln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74519" y="3904487"/>
            <a:ext cx="19202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11D1A"/>
                </a:solidFill>
                <a:latin typeface="Avenir Next"/>
              </a:rPr>
              <a:t>选择输出目录</a:t>
            </a:r>
          </a:p>
        </p:txBody>
      </p:sp>
      <p:sp>
        <p:nvSpPr>
          <p:cNvPr id="19" name="Oval 18"/>
          <p:cNvSpPr/>
          <p:nvPr/>
        </p:nvSpPr>
        <p:spPr>
          <a:xfrm>
            <a:off x="4480560" y="3749039"/>
            <a:ext cx="640080" cy="640080"/>
          </a:xfrm>
          <a:prstGeom prst="ellipse">
            <a:avLst/>
          </a:prstGeom>
          <a:solidFill>
            <a:srgbClr val="BC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2584" y="3858768"/>
            <a:ext cx="274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FBF8F2"/>
                </a:solidFill>
                <a:latin typeface="Avenir Next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3703320"/>
            <a:ext cx="2423160" cy="822960"/>
          </a:xfrm>
          <a:prstGeom prst="roundRect">
            <a:avLst/>
          </a:prstGeom>
          <a:solidFill>
            <a:srgbClr val="FBF8F2"/>
          </a:solidFill>
          <a:ln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3904487"/>
            <a:ext cx="19202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11D1A"/>
                </a:solidFill>
                <a:latin typeface="Avenir Next"/>
              </a:rPr>
              <a:t>点击开始</a:t>
            </a:r>
          </a:p>
        </p:txBody>
      </p:sp>
      <p:sp>
        <p:nvSpPr>
          <p:cNvPr id="23" name="Oval 22"/>
          <p:cNvSpPr/>
          <p:nvPr/>
        </p:nvSpPr>
        <p:spPr>
          <a:xfrm>
            <a:off x="8138160" y="3749039"/>
            <a:ext cx="640080" cy="640080"/>
          </a:xfrm>
          <a:prstGeom prst="ellipse">
            <a:avLst/>
          </a:prstGeom>
          <a:solidFill>
            <a:srgbClr val="BC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4" y="3858768"/>
            <a:ext cx="274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FBF8F2"/>
                </a:solidFill>
                <a:latin typeface="Avenir Next"/>
              </a:rP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3703320"/>
            <a:ext cx="2423160" cy="822960"/>
          </a:xfrm>
          <a:prstGeom prst="roundRect">
            <a:avLst/>
          </a:prstGeom>
          <a:solidFill>
            <a:srgbClr val="FBF8F2"/>
          </a:solidFill>
          <a:ln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3904487"/>
            <a:ext cx="19202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11D1A"/>
                </a:solidFill>
                <a:latin typeface="Avenir Next"/>
              </a:rPr>
              <a:t>查看结果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0080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685F56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5486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11D1A"/>
                </a:solidFill>
                <a:latin typeface="Avenir Next"/>
              </a:rPr>
              <a:t>运行前提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4754880" cy="4389120"/>
          </a:xfrm>
          <a:prstGeom prst="roundRect">
            <a:avLst/>
          </a:prstGeom>
          <a:solidFill>
            <a:srgbClr val="FBF8F2"/>
          </a:solidFill>
          <a:ln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97880" y="1645920"/>
            <a:ext cx="5440680" cy="4389120"/>
          </a:xfrm>
          <a:prstGeom prst="roundRect">
            <a:avLst/>
          </a:prstGeom>
          <a:solidFill>
            <a:srgbClr val="9B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27432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211D1A"/>
                </a:solidFill>
                <a:latin typeface="Avenir Next"/>
              </a:rPr>
              <a:t>必须具备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393192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11D1A"/>
                </a:solidFill>
                <a:latin typeface="Avenir Next"/>
              </a:defRPr>
            </a:pPr>
            <a:r>
              <a:t>已安装 SAP GUI</a:t>
            </a:r>
          </a:p>
          <a:p>
            <a:pPr>
              <a:spcAft>
                <a:spcPts val="1200"/>
              </a:spcAft>
              <a:defRPr sz="1900">
                <a:solidFill>
                  <a:srgbClr val="211D1A"/>
                </a:solidFill>
                <a:latin typeface="Avenir Next"/>
              </a:defRPr>
            </a:pPr>
            <a:r>
              <a:t>账号权限正常</a:t>
            </a:r>
          </a:p>
          <a:p>
            <a:pPr>
              <a:spcAft>
                <a:spcPts val="1200"/>
              </a:spcAft>
              <a:defRPr sz="1900">
                <a:solidFill>
                  <a:srgbClr val="211D1A"/>
                </a:solidFill>
                <a:latin typeface="Avenir Next"/>
              </a:defRPr>
            </a:pPr>
            <a:r>
              <a:t>VPN 可连接</a:t>
            </a:r>
          </a:p>
          <a:p>
            <a:pPr>
              <a:spcAft>
                <a:spcPts val="1200"/>
              </a:spcAft>
              <a:defRPr sz="1900">
                <a:solidFill>
                  <a:srgbClr val="211D1A"/>
                </a:solidFill>
                <a:latin typeface="Avenir Next"/>
              </a:defRPr>
            </a:pPr>
            <a:r>
              <a:t>输出目录可写</a:t>
            </a:r>
          </a:p>
          <a:p>
            <a:pPr>
              <a:spcAft>
                <a:spcPts val="1200"/>
              </a:spcAft>
              <a:defRPr sz="1900">
                <a:solidFill>
                  <a:srgbClr val="211D1A"/>
                </a:solidFill>
                <a:latin typeface="Avenir Next"/>
              </a:defRPr>
            </a:pPr>
            <a:r>
              <a:t>macOS 权限已放开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43891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FBF8F2"/>
                </a:solidFill>
                <a:latin typeface="Avenir Next"/>
              </a:rPr>
              <a:t>先讲清楚这个，能减少 80% 的误解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743200"/>
            <a:ext cx="438912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BF8F2"/>
                </a:solidFill>
                <a:latin typeface="Avenir Next"/>
              </a:defRPr>
            </a:pPr>
            <a:r>
              <a:t>这不是零配置工具</a:t>
            </a:r>
          </a:p>
          <a:p>
            <a:pPr>
              <a:spcAft>
                <a:spcPts val="1200"/>
              </a:spcAft>
              <a:defRPr sz="1900">
                <a:solidFill>
                  <a:srgbClr val="FBF8F2"/>
                </a:solidFill>
                <a:latin typeface="Avenir Next"/>
              </a:defRPr>
            </a:pPr>
            <a:r>
              <a:t>环境没准备好就会失败</a:t>
            </a:r>
          </a:p>
          <a:p>
            <a:pPr>
              <a:spcAft>
                <a:spcPts val="1200"/>
              </a:spcAft>
              <a:defRPr sz="1900">
                <a:solidFill>
                  <a:srgbClr val="FBF8F2"/>
                </a:solidFill>
                <a:latin typeface="Avenir Next"/>
              </a:defRPr>
            </a:pPr>
            <a:r>
              <a:t>失败多数不是工具逻辑问题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0080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685F56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11D1A"/>
                </a:solidFill>
                <a:latin typeface="Avenir Next"/>
              </a:rPr>
              <a:t>现场演示怎么讲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10515600" cy="1051560"/>
          </a:xfrm>
          <a:prstGeom prst="roundRect">
            <a:avLst/>
          </a:prstGeom>
          <a:solidFill>
            <a:srgbClr val="9B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01952"/>
            <a:ext cx="9875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BF8F2"/>
                </a:solidFill>
                <a:latin typeface="Avenir Next"/>
              </a:rPr>
              <a:t>先讲痛点，再演示流程，最后一定展示结果文件。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457200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11D1A"/>
                </a:solidFill>
                <a:latin typeface="Avenir Next"/>
              </a:defRPr>
            </a:pPr>
            <a:r>
              <a:t>提前确认 SAP GUI 可打开</a:t>
            </a:r>
          </a:p>
          <a:p>
            <a:pPr>
              <a:spcAft>
                <a:spcPts val="1200"/>
              </a:spcAft>
              <a:defRPr sz="1900">
                <a:solidFill>
                  <a:srgbClr val="211D1A"/>
                </a:solidFill>
                <a:latin typeface="Avenir Next"/>
              </a:defRPr>
            </a:pPr>
            <a:r>
              <a:t>提前确认 VPN 已连接</a:t>
            </a:r>
          </a:p>
          <a:p>
            <a:pPr>
              <a:spcAft>
                <a:spcPts val="1200"/>
              </a:spcAft>
              <a:defRPr sz="1900">
                <a:solidFill>
                  <a:srgbClr val="211D1A"/>
                </a:solidFill>
                <a:latin typeface="Avenir Next"/>
              </a:defRPr>
            </a:pPr>
            <a:r>
              <a:t>准备一个固定月份</a:t>
            </a:r>
          </a:p>
          <a:p>
            <a:pPr>
              <a:spcAft>
                <a:spcPts val="1200"/>
              </a:spcAft>
              <a:defRPr sz="1900">
                <a:solidFill>
                  <a:srgbClr val="211D1A"/>
                </a:solidFill>
                <a:latin typeface="Avenir Next"/>
              </a:defRPr>
            </a:pPr>
            <a:r>
              <a:t>演示完成后打开结果文件夹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3063240"/>
            <a:ext cx="457200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11D1A"/>
                </a:solidFill>
                <a:latin typeface="Avenir Next"/>
              </a:defRPr>
            </a:pPr>
            <a:r>
              <a:t>准备 2-3 分钟录屏</a:t>
            </a:r>
          </a:p>
          <a:p>
            <a:pPr>
              <a:spcAft>
                <a:spcPts val="1200"/>
              </a:spcAft>
              <a:defRPr sz="1900">
                <a:solidFill>
                  <a:srgbClr val="211D1A"/>
                </a:solidFill>
                <a:latin typeface="Avenir Next"/>
              </a:defRPr>
            </a:pPr>
            <a:r>
              <a:t>准备一份已导出的样例结果</a:t>
            </a:r>
          </a:p>
          <a:p>
            <a:pPr>
              <a:spcAft>
                <a:spcPts val="1200"/>
              </a:spcAft>
              <a:defRPr sz="1900">
                <a:solidFill>
                  <a:srgbClr val="211D1A"/>
                </a:solidFill>
                <a:latin typeface="Avenir Next"/>
              </a:defRPr>
            </a:pPr>
            <a:r>
              <a:t>现场失败就切视频，不中断分享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0080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685F56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11D1A"/>
                </a:solidFill>
                <a:latin typeface="Avenir Next"/>
              </a:rPr>
              <a:t>工具边界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10515600" cy="4480560"/>
          </a:xfrm>
          <a:prstGeom prst="roundRect">
            <a:avLst/>
          </a:prstGeom>
          <a:solidFill>
            <a:srgbClr val="FBF8F2"/>
          </a:solidFill>
          <a:ln>
            <a:solidFill>
              <a:srgbClr val="E8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965960"/>
            <a:ext cx="9418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9B3927"/>
                </a:solidFill>
                <a:latin typeface="Avenir Next"/>
              </a:rPr>
              <a:t>自动化的是导出流程，不是财务判断。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896112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11D1A"/>
                </a:solidFill>
                <a:latin typeface="Avenir Next"/>
              </a:defRPr>
            </a:pPr>
            <a:r>
              <a:t>如果 SAP 页面变化，自动化流程可能要调整</a:t>
            </a:r>
          </a:p>
          <a:p>
            <a:pPr>
              <a:spcAft>
                <a:spcPts val="1200"/>
              </a:spcAft>
              <a:defRPr sz="2100">
                <a:solidFill>
                  <a:srgbClr val="211D1A"/>
                </a:solidFill>
                <a:latin typeface="Avenir Next"/>
              </a:defRPr>
            </a:pPr>
            <a:r>
              <a:t>如果 VPN、权限或环境异常，流程仍然会失败</a:t>
            </a:r>
          </a:p>
          <a:p>
            <a:pPr>
              <a:spcAft>
                <a:spcPts val="1200"/>
              </a:spcAft>
              <a:defRPr sz="2100">
                <a:solidFill>
                  <a:srgbClr val="211D1A"/>
                </a:solidFill>
                <a:latin typeface="Avenir Next"/>
              </a:defRPr>
            </a:pPr>
            <a:r>
              <a:t>它的价值是减少重复动作，不是把所有问题都自动解决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0080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685F56"/>
                </a:solidFill>
                <a:latin typeface="Avenir Nex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5486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11D1A"/>
                </a:solidFill>
                <a:latin typeface="Avenir Next"/>
              </a:rPr>
              <a:t>你可以直接这样说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600200"/>
            <a:ext cx="10332720" cy="4526280"/>
          </a:xfrm>
          <a:prstGeom prst="roundRect">
            <a:avLst/>
          </a:prstGeom>
          <a:solidFill>
            <a:srgbClr val="9B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960120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FBF8F2"/>
                </a:solidFill>
                <a:latin typeface="Avenir Next"/>
              </a:rPr>
              <a:t>“这个工具不是替代大家判断数据，而是把每个月重复的 SAP 导出动作自动化。
使用者只需要输入账号密码、选择月份、点击开始，工具就会自动执行导出流程，并把结果输出到指定文件夹。
它最大的价值，是减少重复点击、降低人为失误，把时间留给核对和分析。”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685F56"/>
                </a:solidFill>
                <a:latin typeface="Avenir N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2743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211D1A"/>
                </a:solidFill>
                <a:latin typeface="Avenir Next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7315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685F56"/>
                </a:solidFill>
                <a:latin typeface="Avenir Next"/>
              </a:rPr>
              <a:t>最常见的提问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8046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1D1A"/>
                </a:solidFill>
                <a:latin typeface="Avenir Next"/>
              </a:defRPr>
            </a:pPr>
            <a:r>
              <a:t>为什么有的人电脑上跑不起来？</a:t>
            </a:r>
          </a:p>
          <a:p>
            <a:pPr>
              <a:spcAft>
                <a:spcPts val="1200"/>
              </a:spcAft>
              <a:defRPr sz="2200">
                <a:solidFill>
                  <a:srgbClr val="211D1A"/>
                </a:solidFill>
                <a:latin typeface="Avenir Next"/>
              </a:defRPr>
            </a:pPr>
            <a:r>
              <a:t>能不能完全替代人工核对？</a:t>
            </a:r>
          </a:p>
          <a:p>
            <a:pPr>
              <a:spcAft>
                <a:spcPts val="1200"/>
              </a:spcAft>
              <a:defRPr sz="2200">
                <a:solidFill>
                  <a:srgbClr val="211D1A"/>
                </a:solidFill>
                <a:latin typeface="Avenir Next"/>
              </a:defRPr>
            </a:pPr>
            <a:r>
              <a:t>如果 SAP 页面变了怎么办？</a:t>
            </a:r>
          </a:p>
          <a:p>
            <a:pPr>
              <a:spcAft>
                <a:spcPts val="1200"/>
              </a:spcAft>
              <a:defRPr sz="2200">
                <a:solidFill>
                  <a:srgbClr val="211D1A"/>
                </a:solidFill>
                <a:latin typeface="Avenir Next"/>
              </a:defRPr>
            </a:pPr>
            <a:r>
              <a:t>失败时优先检查什么？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691640"/>
            <a:ext cx="2011680" cy="4206240"/>
          </a:xfrm>
          <a:prstGeom prst="roundRect">
            <a:avLst/>
          </a:prstGeom>
          <a:solidFill>
            <a:srgbClr val="BC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2194560"/>
            <a:ext cx="137160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1">
                <a:solidFill>
                  <a:srgbClr val="FBF8F2"/>
                </a:solidFill>
                <a:latin typeface="Avenir Next"/>
              </a:rPr>
              <a:t>先把
流程跑通
再逐步
推广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0080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685F56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